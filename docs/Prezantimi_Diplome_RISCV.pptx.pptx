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" charset="1" panose="020F0502020204030204"/>
      <p:regular r:id="rId24"/>
    </p:embeddedFont>
    <p:embeddedFont>
      <p:font typeface="Calibri (MS) Italics" charset="1" panose="020F05020202040A0204"/>
      <p:regular r:id="rId25"/>
    </p:embeddedFont>
    <p:embeddedFont>
      <p:font typeface="Calibri (MS) Bold" charset="1" panose="020F07020304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61020" y="754380"/>
            <a:ext cx="1920240" cy="2113598"/>
            <a:chOff x="0" y="0"/>
            <a:chExt cx="2560320" cy="2818130"/>
          </a:xfrm>
        </p:grpSpPr>
        <p:sp>
          <p:nvSpPr>
            <p:cNvPr name="Freeform 3" id="3" descr="/home/claude/pptx_assets/upt_logo.png"/>
            <p:cNvSpPr/>
            <p:nvPr/>
          </p:nvSpPr>
          <p:spPr>
            <a:xfrm flipH="false" flipV="false" rot="0">
              <a:off x="0" y="0"/>
              <a:ext cx="2560320" cy="2818130"/>
            </a:xfrm>
            <a:custGeom>
              <a:avLst/>
              <a:gdLst/>
              <a:ahLst/>
              <a:cxnLst/>
              <a:rect r="r" b="b" t="t" l="l"/>
              <a:pathLst>
                <a:path h="281813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2818130"/>
                  </a:lnTo>
                  <a:lnTo>
                    <a:pt x="0" y="2818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223260"/>
            <a:ext cx="18283428" cy="548640"/>
            <a:chOff x="0" y="0"/>
            <a:chExt cx="24377904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37790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UNIVERSITETI POLITEKNIK I TIRANËS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3730752"/>
            <a:ext cx="18283428" cy="480060"/>
            <a:chOff x="0" y="0"/>
            <a:chExt cx="24377904" cy="640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77904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9FB8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Fakulteti i Teknologjisë së Informacionit — Inxhinieri Elektronike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4594860"/>
            <a:ext cx="15540228" cy="2057400"/>
            <a:chOff x="0" y="0"/>
            <a:chExt cx="20720304" cy="274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720304" cy="2743200"/>
            </a:xfrm>
            <a:custGeom>
              <a:avLst/>
              <a:gdLst/>
              <a:ahLst/>
              <a:cxnLst/>
              <a:rect r="r" b="b" t="t" l="l"/>
              <a:pathLst>
                <a:path h="2743200" w="20720304">
                  <a:moveTo>
                    <a:pt x="0" y="0"/>
                  </a:moveTo>
                  <a:lnTo>
                    <a:pt x="20720304" y="0"/>
                  </a:lnTo>
                  <a:lnTo>
                    <a:pt x="20720304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176" r="0" b="-971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0720304" cy="2838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Dizajni dhe Implementimi i një Arkitekture</a:t>
              </a:r>
            </a:p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Procesori RISC-V në FPGA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7063740"/>
            <a:ext cx="18283428" cy="548640"/>
            <a:chOff x="0" y="0"/>
            <a:chExt cx="24377904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437790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Samuel Koçi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7612380"/>
            <a:ext cx="18283428" cy="480060"/>
            <a:chOff x="0" y="0"/>
            <a:chExt cx="24377904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4377904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Udhëheqës: MSc. Gani Demiraj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9052560"/>
            <a:ext cx="18283428" cy="411480"/>
            <a:chOff x="0" y="0"/>
            <a:chExt cx="24377904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77904" cy="548640"/>
            </a:xfrm>
            <a:custGeom>
              <a:avLst/>
              <a:gdLst/>
              <a:ahLst/>
              <a:cxnLst/>
              <a:rect r="r" b="b" t="t" l="l"/>
              <a:pathLst>
                <a:path h="5486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785" r="0" b="-81578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437790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7E96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Tiranë, 2025–2026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Motivimi dhe Qëllimi i Punimit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1560" y="2124075"/>
            <a:ext cx="9829800" cy="338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Arkitektura RISC-V — set instruksionesh i hapur (open-source), pa kosto licencimi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Çlirim nga varësia ndaj arkitekturave të mbyllura komerciale (ARM, x86)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Liri e plotë për të dizajnuar, modifikuar, dhe studiuar procesorë të personalizuar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0595" y="5682615"/>
            <a:ext cx="10031730" cy="2899410"/>
            <a:chOff x="0" y="0"/>
            <a:chExt cx="13375640" cy="3865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75639" cy="3865880"/>
            </a:xfrm>
            <a:custGeom>
              <a:avLst/>
              <a:gdLst/>
              <a:ahLst/>
              <a:cxnLst/>
              <a:rect r="r" b="b" t="t" l="l"/>
              <a:pathLst>
                <a:path h="3865880" w="13375639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3228320" y="0"/>
                  </a:lnTo>
                  <a:cubicBezTo>
                    <a:pt x="13309727" y="0"/>
                    <a:pt x="13375639" y="65913"/>
                    <a:pt x="13375639" y="147320"/>
                  </a:cubicBezTo>
                  <a:lnTo>
                    <a:pt x="13375639" y="3718560"/>
                  </a:lnTo>
                  <a:cubicBezTo>
                    <a:pt x="13375639" y="3799967"/>
                    <a:pt x="13309727" y="3865880"/>
                    <a:pt x="13228320" y="3865880"/>
                  </a:cubicBezTo>
                  <a:lnTo>
                    <a:pt x="147320" y="3865880"/>
                  </a:lnTo>
                  <a:cubicBezTo>
                    <a:pt x="65913" y="3865880"/>
                    <a:pt x="0" y="3799967"/>
                    <a:pt x="0" y="3718560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03020" y="5966460"/>
            <a:ext cx="9326880" cy="548640"/>
            <a:chOff x="0" y="0"/>
            <a:chExt cx="124358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35840" cy="731520"/>
            </a:xfrm>
            <a:custGeom>
              <a:avLst/>
              <a:gdLst/>
              <a:ahLst/>
              <a:cxnLst/>
              <a:rect r="r" b="b" t="t" l="l"/>
              <a:pathLst>
                <a:path h="731520" w="12435840">
                  <a:moveTo>
                    <a:pt x="0" y="0"/>
                  </a:moveTo>
                  <a:lnTo>
                    <a:pt x="12435840" y="0"/>
                  </a:lnTo>
                  <a:lnTo>
                    <a:pt x="12435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4358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D4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Qëllimi i Punimit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94460" y="6581775"/>
            <a:ext cx="914400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Projektimi nga zeroja i një CPU RISC-V Single-Cycle në SystemVerilog, implementuar mbi FPGA real, dhe validuar objektivisht përmes benchmark-ut industrial EEMBC CoreMark.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43335" y="2116455"/>
            <a:ext cx="5916930" cy="3516630"/>
            <a:chOff x="0" y="0"/>
            <a:chExt cx="7889240" cy="4688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89240" cy="4688840"/>
            </a:xfrm>
            <a:custGeom>
              <a:avLst/>
              <a:gdLst/>
              <a:ahLst/>
              <a:cxnLst/>
              <a:rect r="r" b="b" t="t" l="l"/>
              <a:pathLst>
                <a:path h="4688840" w="788924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7742174" y="0"/>
                  </a:lnTo>
                  <a:cubicBezTo>
                    <a:pt x="7823454" y="0"/>
                    <a:pt x="7889240" y="65913"/>
                    <a:pt x="7889240" y="147066"/>
                  </a:cubicBezTo>
                  <a:lnTo>
                    <a:pt x="7889240" y="4541774"/>
                  </a:lnTo>
                  <a:cubicBezTo>
                    <a:pt x="7889240" y="4623054"/>
                    <a:pt x="7823327" y="4688840"/>
                    <a:pt x="7742174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FBEAEA"/>
            </a:solidFill>
            <a:ln w="19050" cap="sq">
              <a:solidFill>
                <a:srgbClr val="A3151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727180" y="2400300"/>
            <a:ext cx="5349240" cy="480060"/>
            <a:chOff x="0" y="0"/>
            <a:chExt cx="713232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2320" cy="640080"/>
            </a:xfrm>
            <a:custGeom>
              <a:avLst/>
              <a:gdLst/>
              <a:ahLst/>
              <a:cxnLst/>
              <a:rect r="r" b="b" t="t" l="l"/>
              <a:pathLst>
                <a:path h="6400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1323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A3151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Arkitektura Mbyllur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27180" y="3017520"/>
            <a:ext cx="5349240" cy="2331720"/>
            <a:chOff x="0" y="0"/>
            <a:chExt cx="7132320" cy="3108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" t="0" r="-592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132320" cy="315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Kosto licencimi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Burim i mbyllur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Personalizim i kufizuar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43335" y="6025515"/>
            <a:ext cx="5916930" cy="3516630"/>
            <a:chOff x="0" y="0"/>
            <a:chExt cx="7889240" cy="4688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89240" cy="4688840"/>
            </a:xfrm>
            <a:custGeom>
              <a:avLst/>
              <a:gdLst/>
              <a:ahLst/>
              <a:cxnLst/>
              <a:rect r="r" b="b" t="t" l="l"/>
              <a:pathLst>
                <a:path h="4688840" w="788924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7742174" y="0"/>
                  </a:lnTo>
                  <a:cubicBezTo>
                    <a:pt x="7823454" y="0"/>
                    <a:pt x="7889240" y="65913"/>
                    <a:pt x="7889240" y="147066"/>
                  </a:cubicBezTo>
                  <a:lnTo>
                    <a:pt x="7889240" y="4541774"/>
                  </a:lnTo>
                  <a:cubicBezTo>
                    <a:pt x="7889240" y="4623054"/>
                    <a:pt x="7823327" y="4688840"/>
                    <a:pt x="7742174" y="4688840"/>
                  </a:cubicBezTo>
                  <a:lnTo>
                    <a:pt x="147066" y="4688840"/>
                  </a:lnTo>
                  <a:cubicBezTo>
                    <a:pt x="65913" y="4688840"/>
                    <a:pt x="0" y="4622927"/>
                    <a:pt x="0" y="4541774"/>
                  </a:cubicBezTo>
                  <a:close/>
                </a:path>
              </a:pathLst>
            </a:custGeom>
            <a:solidFill>
              <a:srgbClr val="EEF7EE"/>
            </a:solidFill>
            <a:ln w="19050" cap="sq">
              <a:solidFill>
                <a:srgbClr val="1E7A3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727180" y="6309360"/>
            <a:ext cx="5349240" cy="480060"/>
            <a:chOff x="0" y="0"/>
            <a:chExt cx="71323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320" cy="640080"/>
            </a:xfrm>
            <a:custGeom>
              <a:avLst/>
              <a:gdLst/>
              <a:ahLst/>
              <a:cxnLst/>
              <a:rect r="r" b="b" t="t" l="l"/>
              <a:pathLst>
                <a:path h="64008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1323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E7A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RISC-V (Open-Source)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27180" y="6926580"/>
            <a:ext cx="5349240" cy="2331720"/>
            <a:chOff x="0" y="0"/>
            <a:chExt cx="7132320" cy="3108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323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27" t="0" r="-5927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132320" cy="315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Falas dhe i hapur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(M, F, C...)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Liri e plotë dizajni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/ 15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Seti i Instruksioneve RV32I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124075"/>
            <a:ext cx="16413480" cy="228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RV32I: nënbashkësia bazë 32-bit, ~40 instruksione thelbësore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Arkitektura Load-Store: aritmetika vetëm mbi regjistra, jo direkt mbi memorie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Banka e 32 regjistrave të përgjithshëm (x0–x31), x0 = konstante 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555046" y="4320540"/>
            <a:ext cx="9132199" cy="5280660"/>
            <a:chOff x="0" y="0"/>
            <a:chExt cx="12176265" cy="7040880"/>
          </a:xfrm>
        </p:grpSpPr>
        <p:sp>
          <p:nvSpPr>
            <p:cNvPr name="Freeform 7" id="7" descr="/home/claude/pptx_assets/fig_formats.png"/>
            <p:cNvSpPr/>
            <p:nvPr/>
          </p:nvSpPr>
          <p:spPr>
            <a:xfrm flipH="false" flipV="false" rot="0">
              <a:off x="0" y="0"/>
              <a:ext cx="12176252" cy="7040880"/>
            </a:xfrm>
            <a:custGeom>
              <a:avLst/>
              <a:gdLst/>
              <a:ahLst/>
              <a:cxnLst/>
              <a:rect r="r" b="b" t="t" l="l"/>
              <a:pathLst>
                <a:path h="7040880" w="12176252">
                  <a:moveTo>
                    <a:pt x="0" y="0"/>
                  </a:moveTo>
                  <a:lnTo>
                    <a:pt x="12176252" y="0"/>
                  </a:lnTo>
                  <a:lnTo>
                    <a:pt x="12176252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/ 15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Arkitektura e Sistemit (Niveli i Lartë)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055495"/>
            <a:ext cx="1641348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Arkitektura Harvard e Modifikuar — memorie të ndara për kod (instr_mem) dhe të dhëna (data_mem)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Lidhja e CPU-së me periferikët (UART, Timer) përmes Memory-Mapped I/O (MMIO)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37712" y="3909060"/>
            <a:ext cx="8366865" cy="5692140"/>
            <a:chOff x="0" y="0"/>
            <a:chExt cx="11155820" cy="7589520"/>
          </a:xfrm>
        </p:grpSpPr>
        <p:sp>
          <p:nvSpPr>
            <p:cNvPr name="Freeform 7" id="7" descr="/home/claude/pptx_assets/fig_toplevel.png"/>
            <p:cNvSpPr/>
            <p:nvPr/>
          </p:nvSpPr>
          <p:spPr>
            <a:xfrm flipH="false" flipV="false" rot="0">
              <a:off x="0" y="0"/>
              <a:ext cx="11155807" cy="7589520"/>
            </a:xfrm>
            <a:custGeom>
              <a:avLst/>
              <a:gdLst/>
              <a:ahLst/>
              <a:cxnLst/>
              <a:rect r="r" b="b" t="t" l="l"/>
              <a:pathLst>
                <a:path h="7589520" w="11155807">
                  <a:moveTo>
                    <a:pt x="0" y="0"/>
                  </a:moveTo>
                  <a:lnTo>
                    <a:pt x="11155807" y="0"/>
                  </a:lnTo>
                  <a:lnTo>
                    <a:pt x="11155807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Figura 3.1 — Bllokskema e sistemit top-level (top.sv)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/ 15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Bërthama e Procesorit (Datapath Single-Cycle)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055495"/>
            <a:ext cx="16413480" cy="173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Parimi Single-Cycle: Fetch → Decode → Execute → Memory → Write-Back brenda 1 cikli logjik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Rrugëtimi i sinjalit përmes PC, Register File, ALU, dhe multiplekserëve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526337" y="3909060"/>
            <a:ext cx="9189615" cy="5692140"/>
            <a:chOff x="0" y="0"/>
            <a:chExt cx="12252820" cy="7589520"/>
          </a:xfrm>
        </p:grpSpPr>
        <p:sp>
          <p:nvSpPr>
            <p:cNvPr name="Freeform 7" id="7" descr="/home/claude/pptx_assets/fig_datapath.png"/>
            <p:cNvSpPr/>
            <p:nvPr/>
          </p:nvSpPr>
          <p:spPr>
            <a:xfrm flipH="false" flipV="false" rot="0">
              <a:off x="0" y="0"/>
              <a:ext cx="12252833" cy="7589520"/>
            </a:xfrm>
            <a:custGeom>
              <a:avLst/>
              <a:gdLst/>
              <a:ahLst/>
              <a:cxnLst/>
              <a:rect r="r" b="b" t="t" l="l"/>
              <a:pathLst>
                <a:path h="7589520" w="12252833">
                  <a:moveTo>
                    <a:pt x="0" y="0"/>
                  </a:moveTo>
                  <a:lnTo>
                    <a:pt x="12252833" y="0"/>
                  </a:lnTo>
                  <a:lnTo>
                    <a:pt x="12252833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5800" y="9669780"/>
            <a:ext cx="10972800" cy="411480"/>
            <a:chOff x="0" y="0"/>
            <a:chExt cx="14630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Figura 3.2 — Diagrami i detajuar i rrugës së të dhënave (datapath.sv)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/ 15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Njësia Aritmetike-Logjike (ALU)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/ 15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21115" y="5140990"/>
            <a:ext cx="11427914" cy="4117310"/>
          </a:xfrm>
          <a:custGeom>
            <a:avLst/>
            <a:gdLst/>
            <a:ahLst/>
            <a:cxnLst/>
            <a:rect r="r" b="b" t="t" l="l"/>
            <a:pathLst>
              <a:path h="4117310" w="11427914">
                <a:moveTo>
                  <a:pt x="0" y="0"/>
                </a:moveTo>
                <a:lnTo>
                  <a:pt x="11427914" y="0"/>
                </a:lnTo>
                <a:lnTo>
                  <a:pt x="11427914" y="4117310"/>
                </a:lnTo>
                <a:lnTo>
                  <a:pt x="0" y="4117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1560" y="2339340"/>
            <a:ext cx="8046720" cy="406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Logjikë tërësisht kombinatoriale (pure combinational) — pa regjistra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ADD/SUB/AND/OR/XOR/SLL/SRL/SRA/SLT/SLTU, + zgjerimi M (MUL/DIV/REM)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Rëndësia e SRA (Shift Right Arithmetic) për ruajtjen e shenjës në kompilimin 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Memoria e të Dhënave dhe Instruksioni LBU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1560" y="2192655"/>
            <a:ext cx="16139160" cy="119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Sfida: leximi në nivel biti (8-bit) për stringje/tekste C, nga BRAM e organizuar në fjalë 32-bit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Zgjidhja: logjikë "aligner" me Byte-Enable dhe Masking për LBU/LB/LH/LHU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Hardueri izolon bajtin e saktë (alu_result[1:0]) dhe e zero/sign-shtrin në 32-bit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830955" y="5408295"/>
            <a:ext cx="3585210" cy="1253490"/>
            <a:chOff x="0" y="0"/>
            <a:chExt cx="4780280" cy="16713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80280" cy="1671320"/>
            </a:xfrm>
            <a:custGeom>
              <a:avLst/>
              <a:gdLst/>
              <a:ahLst/>
              <a:cxnLst/>
              <a:rect r="r" b="b" t="t" l="l"/>
              <a:pathLst>
                <a:path h="1671320" w="4780280">
                  <a:moveTo>
                    <a:pt x="0" y="0"/>
                  </a:moveTo>
                  <a:lnTo>
                    <a:pt x="4780280" y="0"/>
                  </a:lnTo>
                  <a:lnTo>
                    <a:pt x="4780280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840480" y="5582412"/>
            <a:ext cx="3566160" cy="480060"/>
            <a:chOff x="0" y="0"/>
            <a:chExt cx="475488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97115" y="5408295"/>
            <a:ext cx="3585210" cy="1253490"/>
            <a:chOff x="0" y="0"/>
            <a:chExt cx="4780280" cy="1671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80280" cy="1671320"/>
            </a:xfrm>
            <a:custGeom>
              <a:avLst/>
              <a:gdLst/>
              <a:ahLst/>
              <a:cxnLst/>
              <a:rect r="r" b="b" t="t" l="l"/>
              <a:pathLst>
                <a:path h="1671320" w="4780280">
                  <a:moveTo>
                    <a:pt x="0" y="0"/>
                  </a:moveTo>
                  <a:lnTo>
                    <a:pt x="4780280" y="0"/>
                  </a:lnTo>
                  <a:lnTo>
                    <a:pt x="4780280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406640" y="5582412"/>
            <a:ext cx="3566160" cy="480060"/>
            <a:chOff x="0" y="0"/>
            <a:chExt cx="475488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63275" y="5408295"/>
            <a:ext cx="3585210" cy="1253490"/>
            <a:chOff x="0" y="0"/>
            <a:chExt cx="4780280" cy="16713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80280" cy="1671320"/>
            </a:xfrm>
            <a:custGeom>
              <a:avLst/>
              <a:gdLst/>
              <a:ahLst/>
              <a:cxnLst/>
              <a:rect r="r" b="b" t="t" l="l"/>
              <a:pathLst>
                <a:path h="1671320" w="4780280">
                  <a:moveTo>
                    <a:pt x="0" y="0"/>
                  </a:moveTo>
                  <a:lnTo>
                    <a:pt x="4780280" y="0"/>
                  </a:lnTo>
                  <a:lnTo>
                    <a:pt x="4780280" y="1671320"/>
                  </a:lnTo>
                  <a:lnTo>
                    <a:pt x="0" y="1671320"/>
                  </a:ln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0" y="5582412"/>
            <a:ext cx="3566160" cy="480060"/>
            <a:chOff x="0" y="0"/>
            <a:chExt cx="475488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519910" y="5398770"/>
            <a:ext cx="3604260" cy="1272540"/>
            <a:chOff x="0" y="0"/>
            <a:chExt cx="4805680" cy="1696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05680" cy="1696720"/>
            </a:xfrm>
            <a:custGeom>
              <a:avLst/>
              <a:gdLst/>
              <a:ahLst/>
              <a:cxnLst/>
              <a:rect r="r" b="b" t="t" l="l"/>
              <a:pathLst>
                <a:path h="1696720" w="4805680">
                  <a:moveTo>
                    <a:pt x="0" y="0"/>
                  </a:moveTo>
                  <a:lnTo>
                    <a:pt x="4805680" y="0"/>
                  </a:lnTo>
                  <a:lnTo>
                    <a:pt x="4805680" y="1696720"/>
                  </a:lnTo>
                  <a:lnTo>
                    <a:pt x="0" y="1696720"/>
                  </a:lnTo>
                  <a:close/>
                </a:path>
              </a:pathLst>
            </a:custGeom>
            <a:solidFill>
              <a:srgbClr val="FFF3E0"/>
            </a:solidFill>
            <a:ln w="38100" cap="sq">
              <a:solidFill>
                <a:srgbClr val="C9710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4538960" y="5582412"/>
            <a:ext cx="3566160" cy="480060"/>
            <a:chOff x="0" y="0"/>
            <a:chExt cx="475488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47548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C971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Byte 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538960" y="6076188"/>
            <a:ext cx="3566160" cy="480060"/>
            <a:chOff x="0" y="0"/>
            <a:chExt cx="475488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7548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C9710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alu_result[1:0]=11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840480" y="4896612"/>
            <a:ext cx="14264640" cy="411480"/>
            <a:chOff x="0" y="0"/>
            <a:chExt cx="1901952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19520" cy="548640"/>
            </a:xfrm>
            <a:custGeom>
              <a:avLst/>
              <a:gdLst/>
              <a:ahLst/>
              <a:cxnLst/>
              <a:rect r="r" b="b" t="t" l="l"/>
              <a:pathLst>
                <a:path h="54864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481" r="0" b="-6254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9019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Fjalë 32-bit nga RAM (data_mem)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" y="6995160"/>
            <a:ext cx="16322040" cy="548640"/>
            <a:chOff x="0" y="0"/>
            <a:chExt cx="217627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  LBU x12, 0(x10) ekstrakton vetëm Byte 0, e zero-shtrin në 32-bit, e ruan te x12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0595" y="8014335"/>
            <a:ext cx="16341090" cy="1390650"/>
            <a:chOff x="0" y="0"/>
            <a:chExt cx="21788120" cy="1854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88121" cy="1854200"/>
            </a:xfrm>
            <a:custGeom>
              <a:avLst/>
              <a:gdLst/>
              <a:ahLst/>
              <a:cxnLst/>
              <a:rect r="r" b="b" t="t" l="l"/>
              <a:pathLst>
                <a:path h="1854200" w="21788121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1639785" y="0"/>
                  </a:lnTo>
                  <a:cubicBezTo>
                    <a:pt x="21721699" y="0"/>
                    <a:pt x="21788121" y="66421"/>
                    <a:pt x="21788121" y="148336"/>
                  </a:cubicBezTo>
                  <a:lnTo>
                    <a:pt x="21788121" y="1705864"/>
                  </a:lnTo>
                  <a:cubicBezTo>
                    <a:pt x="21788121" y="1787779"/>
                    <a:pt x="21721699" y="1854200"/>
                    <a:pt x="21639785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020" y="8023860"/>
            <a:ext cx="15636240" cy="1371600"/>
            <a:chOff x="0" y="0"/>
            <a:chExt cx="2084832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848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08483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2B2B2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 këtë mekanizëm, çdo karakter i printuar nga CoreMark në PuTTY do të ishte i korruptuar.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 / 15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Komunikimi Serial Periferik (UART)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1560" y="2466975"/>
            <a:ext cx="10241280" cy="407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Modulet uart_tx.sv / uart_rx.sv — transmetim/marrje seriale 8N1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Frekuenca e sistemit 50 MHz → saktësisht 9600 baud (baud_gen, N=326)</a:t>
            </a:r>
          </a:p>
          <a:p>
            <a:pPr algn="l" marL="461486" indent="-230743" lvl="1">
              <a:lnSpc>
                <a:spcPts val="3060"/>
              </a:lnSpc>
              <a:buFont typeface="Arial"/>
              <a:buChar char="•"/>
            </a:pPr>
            <a:r>
              <a:rPr lang="en-US" sz="25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Makinë gjendjesh (FSM) 4-fazore: idle → start → data → stop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923395" y="2459355"/>
            <a:ext cx="4819650" cy="1939290"/>
            <a:chOff x="0" y="0"/>
            <a:chExt cx="6426200" cy="2585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26200" cy="2585720"/>
            </a:xfrm>
            <a:custGeom>
              <a:avLst/>
              <a:gdLst/>
              <a:ahLst/>
              <a:cxnLst/>
              <a:rect r="r" b="b" t="t" l="l"/>
              <a:pathLst>
                <a:path h="2585720" w="64262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278499" y="0"/>
                  </a:lnTo>
                  <a:cubicBezTo>
                    <a:pt x="6360033" y="0"/>
                    <a:pt x="6426200" y="66167"/>
                    <a:pt x="6426200" y="147701"/>
                  </a:cubicBezTo>
                  <a:lnTo>
                    <a:pt x="6426200" y="2438019"/>
                  </a:lnTo>
                  <a:cubicBezTo>
                    <a:pt x="6426200" y="2519680"/>
                    <a:pt x="6360033" y="2585720"/>
                    <a:pt x="627849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932920" y="2606040"/>
            <a:ext cx="4800600" cy="1165860"/>
            <a:chOff x="0" y="0"/>
            <a:chExt cx="6400800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6400800" cy="16497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D4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9600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070080" y="3784473"/>
            <a:ext cx="452628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Baud Rate (bit/sek)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23395" y="4653915"/>
            <a:ext cx="4819650" cy="1939290"/>
            <a:chOff x="0" y="0"/>
            <a:chExt cx="6426200" cy="2585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26200" cy="2585720"/>
            </a:xfrm>
            <a:custGeom>
              <a:avLst/>
              <a:gdLst/>
              <a:ahLst/>
              <a:cxnLst/>
              <a:rect r="r" b="b" t="t" l="l"/>
              <a:pathLst>
                <a:path h="2585720" w="64262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278499" y="0"/>
                  </a:lnTo>
                  <a:cubicBezTo>
                    <a:pt x="6360033" y="0"/>
                    <a:pt x="6426200" y="66167"/>
                    <a:pt x="6426200" y="147701"/>
                  </a:cubicBezTo>
                  <a:lnTo>
                    <a:pt x="6426200" y="2438019"/>
                  </a:lnTo>
                  <a:cubicBezTo>
                    <a:pt x="6426200" y="2519680"/>
                    <a:pt x="6360033" y="2585720"/>
                    <a:pt x="6278499" y="2585720"/>
                  </a:cubicBezTo>
                  <a:lnTo>
                    <a:pt x="147701" y="2585720"/>
                  </a:lnTo>
                  <a:cubicBezTo>
                    <a:pt x="66167" y="2585720"/>
                    <a:pt x="0" y="2519553"/>
                    <a:pt x="0" y="2438019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932920" y="4800600"/>
            <a:ext cx="4800600" cy="1165860"/>
            <a:chOff x="0" y="0"/>
            <a:chExt cx="6400800" cy="1554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6400800" cy="164973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D4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 MHz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070080" y="5979033"/>
            <a:ext cx="452628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Frekuenca e Sistemit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1560" y="7747635"/>
            <a:ext cx="16139160" cy="132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6B6B6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"Komunikimi UART është dritarja e vetme drejt botës së jashtme — çdo mesazh debug dhe rezultat final CoreMark kalon nëpërmjet tij drejt terminalit PuTTY."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45832" y="5403532"/>
            <a:ext cx="2360295" cy="1194435"/>
            <a:chOff x="0" y="0"/>
            <a:chExt cx="3147060" cy="15925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4706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14706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lnTo>
                    <a:pt x="2350770" y="0"/>
                  </a:lnTo>
                  <a:cubicBezTo>
                    <a:pt x="2790571" y="0"/>
                    <a:pt x="3147060" y="356489"/>
                    <a:pt x="3147060" y="796290"/>
                  </a:cubicBezTo>
                  <a:cubicBezTo>
                    <a:pt x="3147060" y="1236091"/>
                    <a:pt x="2790571" y="1592580"/>
                    <a:pt x="2350770" y="1592580"/>
                  </a:cubicBezTo>
                  <a:lnTo>
                    <a:pt x="796290" y="1592580"/>
                  </a:ln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F4F7FB"/>
            </a:solidFill>
            <a:ln w="28575" cap="sq">
              <a:solidFill>
                <a:srgbClr val="6B6B6B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60120" y="5417820"/>
            <a:ext cx="2331720" cy="1165860"/>
            <a:chOff x="0" y="0"/>
            <a:chExt cx="310896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1089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6B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291840" y="5417820"/>
            <a:ext cx="480060" cy="1165860"/>
            <a:chOff x="0" y="0"/>
            <a:chExt cx="64008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1594" t="0" r="-26159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400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757612" y="5403532"/>
            <a:ext cx="2360295" cy="1194435"/>
            <a:chOff x="0" y="0"/>
            <a:chExt cx="3147060" cy="1592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4706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14706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lnTo>
                    <a:pt x="2350770" y="0"/>
                  </a:lnTo>
                  <a:cubicBezTo>
                    <a:pt x="2790571" y="0"/>
                    <a:pt x="3147060" y="356489"/>
                    <a:pt x="3147060" y="796290"/>
                  </a:cubicBezTo>
                  <a:cubicBezTo>
                    <a:pt x="3147060" y="1236091"/>
                    <a:pt x="2790571" y="1592580"/>
                    <a:pt x="2350770" y="1592580"/>
                  </a:cubicBezTo>
                  <a:lnTo>
                    <a:pt x="796290" y="1592580"/>
                  </a:ln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F4F7FB"/>
            </a:solidFill>
            <a:ln w="28575" cap="sq">
              <a:solidFill>
                <a:srgbClr val="C9710B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3771900" y="5417820"/>
            <a:ext cx="2331720" cy="1165860"/>
            <a:chOff x="0" y="0"/>
            <a:chExt cx="310896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1089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C971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03620" y="5417820"/>
            <a:ext cx="480060" cy="1165860"/>
            <a:chOff x="0" y="0"/>
            <a:chExt cx="640080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1594" t="0" r="-26159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400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69393" y="5403532"/>
            <a:ext cx="2360295" cy="1194435"/>
            <a:chOff x="0" y="0"/>
            <a:chExt cx="3147060" cy="15925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4706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14706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lnTo>
                    <a:pt x="2350770" y="0"/>
                  </a:lnTo>
                  <a:cubicBezTo>
                    <a:pt x="2790571" y="0"/>
                    <a:pt x="3147060" y="356489"/>
                    <a:pt x="3147060" y="796290"/>
                  </a:cubicBezTo>
                  <a:cubicBezTo>
                    <a:pt x="3147060" y="1236091"/>
                    <a:pt x="2790571" y="1592580"/>
                    <a:pt x="2350770" y="1592580"/>
                  </a:cubicBezTo>
                  <a:lnTo>
                    <a:pt x="796290" y="1592580"/>
                  </a:ln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F4F7FB"/>
            </a:solidFill>
            <a:ln w="28575" cap="sq">
              <a:solidFill>
                <a:srgbClr val="1D4E8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583680" y="5417820"/>
            <a:ext cx="2331720" cy="1165860"/>
            <a:chOff x="0" y="0"/>
            <a:chExt cx="310896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1089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D4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15400" y="5417820"/>
            <a:ext cx="480060" cy="1165860"/>
            <a:chOff x="0" y="0"/>
            <a:chExt cx="64008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0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1594" t="0" r="-26159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4008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81172" y="5403532"/>
            <a:ext cx="2360295" cy="1194435"/>
            <a:chOff x="0" y="0"/>
            <a:chExt cx="3147060" cy="15925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47060" cy="1592580"/>
            </a:xfrm>
            <a:custGeom>
              <a:avLst/>
              <a:gdLst/>
              <a:ahLst/>
              <a:cxnLst/>
              <a:rect r="r" b="b" t="t" l="l"/>
              <a:pathLst>
                <a:path h="1592580" w="314706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lnTo>
                    <a:pt x="2350770" y="0"/>
                  </a:lnTo>
                  <a:cubicBezTo>
                    <a:pt x="2790571" y="0"/>
                    <a:pt x="3147060" y="356489"/>
                    <a:pt x="3147060" y="796290"/>
                  </a:cubicBezTo>
                  <a:cubicBezTo>
                    <a:pt x="3147060" y="1236091"/>
                    <a:pt x="2790571" y="1592580"/>
                    <a:pt x="2350770" y="1592580"/>
                  </a:cubicBezTo>
                  <a:lnTo>
                    <a:pt x="796290" y="1592580"/>
                  </a:ln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F4F7FB"/>
            </a:solidFill>
            <a:ln w="28575" cap="sq">
              <a:solidFill>
                <a:srgbClr val="1E7A3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395460" y="5417820"/>
            <a:ext cx="2331720" cy="1165860"/>
            <a:chOff x="0" y="0"/>
            <a:chExt cx="310896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089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31089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7A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0120" y="6789420"/>
            <a:ext cx="10972800" cy="548640"/>
            <a:chOff x="0" y="0"/>
            <a:chExt cx="1463040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FSM-ja e uart_tx.sv — 1 frame serial = start bit + 8 bit të dhëna (LSB-first) + stop bit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 / 15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Mjedisi Softuerik (Toolchain &amp; Linker)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065020"/>
            <a:ext cx="1641348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Kompilatori xPack RISC-V GCC (riscv-none-elf-gcc, v15.2.0)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Flamujt: -march=rv32i -mabi=ilp32 -ffreestanding -nostartfiles -nostdlib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linker.ld ndërton hartën e memories: .text, .rodata, .data, .bss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83022" y="4869180"/>
            <a:ext cx="13476237" cy="4663440"/>
            <a:chOff x="0" y="0"/>
            <a:chExt cx="17968316" cy="6217920"/>
          </a:xfrm>
        </p:grpSpPr>
        <p:sp>
          <p:nvSpPr>
            <p:cNvPr name="Freeform 7" id="7" descr="/home/claude/pptx_assets/fig_toolchain.png"/>
            <p:cNvSpPr/>
            <p:nvPr/>
          </p:nvSpPr>
          <p:spPr>
            <a:xfrm flipH="false" flipV="false" rot="0">
              <a:off x="0" y="0"/>
              <a:ext cx="17968340" cy="6217920"/>
            </a:xfrm>
            <a:custGeom>
              <a:avLst/>
              <a:gdLst/>
              <a:ahLst/>
              <a:cxnLst/>
              <a:rect r="r" b="b" t="t" l="l"/>
              <a:pathLst>
                <a:path h="6217920" w="17968340">
                  <a:moveTo>
                    <a:pt x="0" y="0"/>
                  </a:moveTo>
                  <a:lnTo>
                    <a:pt x="17968340" y="0"/>
                  </a:lnTo>
                  <a:lnTo>
                    <a:pt x="17968340" y="6217920"/>
                  </a:lnTo>
                  <a:lnTo>
                    <a:pt x="0" y="6217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 / 15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Zgjimi i Sistemit: Funksioni _start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055495"/>
            <a:ext cx="16413480" cy="201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Problemi: ekzekutim Bare-Metal pa Stack të inicializuar → kolaps i menjëhershëm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Zgjidhja: la sp, _stack_top (sp = 0x10000), vendos gp, pastron .bss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Kalimi i pastër drejt main(): jal ra, main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99460" y="4046220"/>
            <a:ext cx="5243351" cy="5692140"/>
            <a:chOff x="0" y="0"/>
            <a:chExt cx="6991134" cy="7589520"/>
          </a:xfrm>
        </p:grpSpPr>
        <p:sp>
          <p:nvSpPr>
            <p:cNvPr name="Freeform 7" id="7" descr="/home/claude/pptx_assets/fig_boot.png"/>
            <p:cNvSpPr/>
            <p:nvPr/>
          </p:nvSpPr>
          <p:spPr>
            <a:xfrm flipH="false" flipV="false" rot="0">
              <a:off x="0" y="0"/>
              <a:ext cx="6991096" cy="7589520"/>
            </a:xfrm>
            <a:custGeom>
              <a:avLst/>
              <a:gdLst/>
              <a:ahLst/>
              <a:cxnLst/>
              <a:rect r="r" b="b" t="t" l="l"/>
              <a:pathLst>
                <a:path h="7589520" w="6991096">
                  <a:moveTo>
                    <a:pt x="0" y="0"/>
                  </a:moveTo>
                  <a:lnTo>
                    <a:pt x="6991096" y="0"/>
                  </a:lnTo>
                  <a:lnTo>
                    <a:pt x="6991096" y="7589520"/>
                  </a:lnTo>
                  <a:lnTo>
                    <a:pt x="0" y="7589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 / 15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Portimi i EEMBC CoreMark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055495"/>
            <a:ext cx="16413480" cy="215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Pse CoreMark? Standard industrial, krahasueshëm me procesorë komercialë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Tre algoritme: Linked List, Matrix Manipulation, State Machine</a:t>
            </a:r>
          </a:p>
          <a:p>
            <a:pPr algn="l" marL="420767" indent="-210383" lvl="1">
              <a:lnSpc>
                <a:spcPts val="2790"/>
              </a:lnSpc>
              <a:buFont typeface="Arial"/>
              <a:buChar char="•"/>
            </a:pPr>
            <a:r>
              <a:rPr lang="en-US" sz="232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core_portme.c i personalizuar + Timer harduerik (0x80000004) + ee_printf.c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12322" y="4183380"/>
            <a:ext cx="11417646" cy="5486400"/>
            <a:chOff x="0" y="0"/>
            <a:chExt cx="15223528" cy="7315200"/>
          </a:xfrm>
        </p:grpSpPr>
        <p:sp>
          <p:nvSpPr>
            <p:cNvPr name="Freeform 7" id="7" descr="/home/claude/pptx_assets/fig_coremark_flow.png"/>
            <p:cNvSpPr/>
            <p:nvPr/>
          </p:nvSpPr>
          <p:spPr>
            <a:xfrm flipH="false" flipV="false" rot="0">
              <a:off x="0" y="0"/>
              <a:ext cx="15223489" cy="7315200"/>
            </a:xfrm>
            <a:custGeom>
              <a:avLst/>
              <a:gdLst/>
              <a:ahLst/>
              <a:cxnLst/>
              <a:rect r="r" b="b" t="t" l="l"/>
              <a:pathLst>
                <a:path h="7315200" w="15223489">
                  <a:moveTo>
                    <a:pt x="0" y="0"/>
                  </a:moveTo>
                  <a:lnTo>
                    <a:pt x="15223489" y="0"/>
                  </a:lnTo>
                  <a:lnTo>
                    <a:pt x="15223489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 / 15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Metodologjia: Checkpoint Debugging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51560" y="2466975"/>
            <a:ext cx="16139160" cy="352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7913" indent="-223957" lvl="1">
              <a:lnSpc>
                <a:spcPts val="2970"/>
              </a:lnSpc>
              <a:buFont typeface="Arial"/>
              <a:buChar char="•"/>
            </a:pPr>
            <a:r>
              <a:rPr lang="en-US" sz="24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Debug-imi i harduerit pa sistem operativ — sfidë krejt e ndryshme nga softueri tradicional</a:t>
            </a:r>
          </a:p>
          <a:p>
            <a:pPr algn="l" marL="447913" indent="-223957" lvl="1">
              <a:lnSpc>
                <a:spcPts val="2970"/>
              </a:lnSpc>
              <a:buFont typeface="Arial"/>
              <a:buChar char="•"/>
            </a:pPr>
            <a:r>
              <a:rPr lang="en-US" sz="24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Pika kontrolli ([CHECK 1] → [FUND]) për të kapur "krasha" live në terminalin PuTTY</a:t>
            </a:r>
          </a:p>
          <a:p>
            <a:pPr algn="l" marL="447913" indent="-223957" lvl="1">
              <a:lnSpc>
                <a:spcPts val="2970"/>
              </a:lnSpc>
              <a:buFont typeface="Arial"/>
              <a:buChar char="•"/>
            </a:pPr>
            <a:r>
              <a:rPr lang="en-US" sz="2475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Softueri shërbeu si "dritare" për të verifikuar korrektësinë e qarkut në FPGA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 / 15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322477" y="5456565"/>
            <a:ext cx="13643046" cy="3267379"/>
          </a:xfrm>
          <a:custGeom>
            <a:avLst/>
            <a:gdLst/>
            <a:ahLst/>
            <a:cxnLst/>
            <a:rect r="r" b="b" t="t" l="l"/>
            <a:pathLst>
              <a:path h="3267379" w="13643046">
                <a:moveTo>
                  <a:pt x="0" y="0"/>
                </a:moveTo>
                <a:lnTo>
                  <a:pt x="13643046" y="0"/>
                </a:lnTo>
                <a:lnTo>
                  <a:pt x="13643046" y="3267380"/>
                </a:lnTo>
                <a:lnTo>
                  <a:pt x="0" y="3267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Sfida Inxhinierike: Problemi i Pjesëtimit (DIV)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2253615"/>
            <a:ext cx="8042910" cy="6671310"/>
            <a:chOff x="0" y="0"/>
            <a:chExt cx="10723880" cy="889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388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7238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577195" y="0"/>
                  </a:lnTo>
                  <a:cubicBezTo>
                    <a:pt x="10658221" y="0"/>
                    <a:pt x="10723880" y="65659"/>
                    <a:pt x="10723880" y="146685"/>
                  </a:cubicBezTo>
                  <a:lnTo>
                    <a:pt x="10723880" y="8748395"/>
                  </a:lnTo>
                  <a:cubicBezTo>
                    <a:pt x="10723880" y="8829421"/>
                    <a:pt x="10658221" y="8895080"/>
                    <a:pt x="10577195" y="8895080"/>
                  </a:cubicBezTo>
                  <a:lnTo>
                    <a:pt x="146685" y="8895080"/>
                  </a:lnTo>
                  <a:cubicBezTo>
                    <a:pt x="65659" y="8895080"/>
                    <a:pt x="0" y="8829421"/>
                    <a:pt x="0" y="8748395"/>
                  </a:cubicBezTo>
                  <a:close/>
                </a:path>
              </a:pathLst>
            </a:custGeom>
            <a:solidFill>
              <a:srgbClr val="FBEAEA"/>
            </a:solidFill>
            <a:ln w="19050" cap="sq">
              <a:solidFill>
                <a:srgbClr val="A3151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2537460"/>
            <a:ext cx="7338060" cy="548640"/>
            <a:chOff x="0" y="0"/>
            <a:chExt cx="978408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784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A3151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SFIDA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94460" y="3143250"/>
            <a:ext cx="7155180" cy="216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Instruksioni harduerik DIV (32-bit, kombinatorial) @ 50 MHz thyente rrugën kritike kohore (Timing Violation) gjatë sintezës në Vivado.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4460" y="5415915"/>
            <a:ext cx="715518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Divizori kombinatorial kërkon shumë nivele logjike (LUT depth)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20 ns (1 cikël @ 50MHz) nuk mjafton për propagim të plotë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Rrezik real: sjellje e paqëndrueshme në hardware fizik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17355" y="2253615"/>
            <a:ext cx="8042910" cy="6671310"/>
            <a:chOff x="0" y="0"/>
            <a:chExt cx="10723880" cy="8895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23880" cy="8895080"/>
            </a:xfrm>
            <a:custGeom>
              <a:avLst/>
              <a:gdLst/>
              <a:ahLst/>
              <a:cxnLst/>
              <a:rect r="r" b="b" t="t" l="l"/>
              <a:pathLst>
                <a:path h="8895080" w="107238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577195" y="0"/>
                  </a:lnTo>
                  <a:cubicBezTo>
                    <a:pt x="10658221" y="0"/>
                    <a:pt x="10723880" y="65659"/>
                    <a:pt x="10723880" y="146685"/>
                  </a:cubicBezTo>
                  <a:lnTo>
                    <a:pt x="10723880" y="8748395"/>
                  </a:lnTo>
                  <a:cubicBezTo>
                    <a:pt x="10723880" y="8829421"/>
                    <a:pt x="10658221" y="8895080"/>
                    <a:pt x="10577195" y="8895080"/>
                  </a:cubicBezTo>
                  <a:lnTo>
                    <a:pt x="146685" y="8895080"/>
                  </a:lnTo>
                  <a:cubicBezTo>
                    <a:pt x="65659" y="8895080"/>
                    <a:pt x="0" y="8829421"/>
                    <a:pt x="0" y="8748395"/>
                  </a:cubicBezTo>
                  <a:close/>
                </a:path>
              </a:pathLst>
            </a:custGeom>
            <a:solidFill>
              <a:srgbClr val="EEF7EE"/>
            </a:solidFill>
            <a:ln w="19050" cap="sq">
              <a:solidFill>
                <a:srgbClr val="1E7A3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669780" y="2537460"/>
            <a:ext cx="7338060" cy="548640"/>
            <a:chOff x="0" y="0"/>
            <a:chExt cx="97840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84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612" r="0" b="-21061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7840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7A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ZGJIDHJA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61220" y="3143250"/>
            <a:ext cx="7155180" cy="216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Kalim i qëllimshëm te arkitektura e pastër -march=rv32i, duke e detyruar GCC të kryejë pjesëtimin në softuer (libgcc), pa rrezikuar stabilitetin e harduerit.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61220" y="5415915"/>
            <a:ext cx="7155180" cy="324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GCC gjeneron rutina softuerike (__udivsi3, etj.)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Çdo instruksion individual mbetet 1 cikël i shpejtë</a:t>
            </a:r>
          </a:p>
          <a:p>
            <a:pPr algn="l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Korrektësia e ALU-së garantohet pa kompromis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0120" y="8983980"/>
            <a:ext cx="16390620" cy="822960"/>
            <a:chOff x="0" y="0"/>
            <a:chExt cx="2185416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8541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854161">
                  <a:moveTo>
                    <a:pt x="0" y="0"/>
                  </a:moveTo>
                  <a:lnTo>
                    <a:pt x="21854161" y="0"/>
                  </a:lnTo>
                  <a:lnTo>
                    <a:pt x="218541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077" r="0" b="-3380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8541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ALU-ja mbetet e plotë me mbështetje MUL/DIV/REM në harduer — gati për t'u aktivizuar plotësisht me një cikël pritjeje shtesë (Kapitulli 8.3).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/ 15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891540"/>
            <a:chOff x="0" y="0"/>
            <a:chExt cx="2212848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212848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234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Rezultatet Finale Eksperimentale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0595" y="2185035"/>
            <a:ext cx="3448050" cy="2076450"/>
            <a:chOff x="0" y="0"/>
            <a:chExt cx="4597400" cy="2768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60120" y="2331720"/>
            <a:ext cx="3429000" cy="1303020"/>
            <a:chOff x="0" y="0"/>
            <a:chExt cx="4572000" cy="1737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2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4572000" cy="18326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D4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23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97280" y="3647313"/>
            <a:ext cx="315468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Iterations/Sec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653915" y="2185035"/>
            <a:ext cx="3448050" cy="2076450"/>
            <a:chOff x="0" y="0"/>
            <a:chExt cx="4597400" cy="2768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663440" y="2331720"/>
            <a:ext cx="3429000" cy="1303020"/>
            <a:chOff x="0" y="0"/>
            <a:chExt cx="4572000" cy="1737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72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4572000" cy="18326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D4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0.44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800600" y="3647313"/>
            <a:ext cx="315468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CoreMark/MHz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357235" y="2185035"/>
            <a:ext cx="3448050" cy="2076450"/>
            <a:chOff x="0" y="0"/>
            <a:chExt cx="4597400" cy="2768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366760" y="2331720"/>
            <a:ext cx="3429000" cy="1303020"/>
            <a:chOff x="0" y="0"/>
            <a:chExt cx="4572000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72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4572000" cy="18326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D4E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300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503920" y="3647313"/>
            <a:ext cx="315468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Iterations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60555" y="2185035"/>
            <a:ext cx="3448050" cy="2076450"/>
            <a:chOff x="0" y="0"/>
            <a:chExt cx="4597400" cy="2768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97400" cy="2768600"/>
            </a:xfrm>
            <a:custGeom>
              <a:avLst/>
              <a:gdLst/>
              <a:ahLst/>
              <a:cxnLst/>
              <a:rect r="r" b="b" t="t" l="l"/>
              <a:pathLst>
                <a:path h="2768600" w="459740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4449699" y="0"/>
                  </a:lnTo>
                  <a:cubicBezTo>
                    <a:pt x="4531233" y="0"/>
                    <a:pt x="4597400" y="66167"/>
                    <a:pt x="4597400" y="147701"/>
                  </a:cubicBezTo>
                  <a:lnTo>
                    <a:pt x="4597400" y="2620899"/>
                  </a:lnTo>
                  <a:cubicBezTo>
                    <a:pt x="4597400" y="2702433"/>
                    <a:pt x="4531233" y="2768600"/>
                    <a:pt x="4449699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4F7FB"/>
            </a:solidFill>
            <a:ln w="19050" cap="sq">
              <a:solidFill>
                <a:srgbClr val="D8E2E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070080" y="2331720"/>
            <a:ext cx="3429000" cy="1303020"/>
            <a:chOff x="0" y="0"/>
            <a:chExt cx="4572000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72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" r="0" b="-127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4572000" cy="183261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1E7A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207240" y="3647313"/>
            <a:ext cx="3154680" cy="54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>
                <a:solidFill>
                  <a:srgbClr val="6B6B6B"/>
                </a:solidFill>
                <a:latin typeface="Calibri (MS)"/>
                <a:ea typeface="Calibri (MS)"/>
                <a:cs typeface="Calibri (MS)"/>
                <a:sym typeface="Calibri (MS)"/>
              </a:rPr>
              <a:t>CRC Validuar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7015982" y="4594860"/>
            <a:ext cx="4210326" cy="4937760"/>
            <a:chOff x="0" y="0"/>
            <a:chExt cx="5613768" cy="6583680"/>
          </a:xfrm>
        </p:grpSpPr>
        <p:sp>
          <p:nvSpPr>
            <p:cNvPr name="Freeform 30" id="30" descr="/home/claude/pptx_assets/putty_final.png"/>
            <p:cNvSpPr/>
            <p:nvPr/>
          </p:nvSpPr>
          <p:spPr>
            <a:xfrm flipH="false" flipV="false" rot="0">
              <a:off x="0" y="0"/>
              <a:ext cx="5613781" cy="6583680"/>
            </a:xfrm>
            <a:custGeom>
              <a:avLst/>
              <a:gdLst/>
              <a:ahLst/>
              <a:cxnLst/>
              <a:rect r="r" b="b" t="t" l="l"/>
              <a:pathLst>
                <a:path h="6583680" w="5613781">
                  <a:moveTo>
                    <a:pt x="0" y="0"/>
                  </a:moveTo>
                  <a:lnTo>
                    <a:pt x="5613781" y="0"/>
                  </a:lnTo>
                  <a:lnTo>
                    <a:pt x="5613781" y="6583680"/>
                  </a:lnTo>
                  <a:lnTo>
                    <a:pt x="0" y="658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51560" y="4798695"/>
            <a:ext cx="3931920" cy="2013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i="true">
                <a:solidFill>
                  <a:srgbClr val="2B2B2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"Correct operation validated" — të tria CRC-të (list, matrix, state) përputhen ekzaktësisht me tabelat zyrtare EEMBC.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486400" y="9601200"/>
            <a:ext cx="7269480" cy="411480"/>
            <a:chOff x="0" y="0"/>
            <a:chExt cx="96926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692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6B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Figura 5.1 — Output-i përfundimtar i CoreMark në terminalin PuTTY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/ 15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85800"/>
            <a:ext cx="16322040" cy="960120"/>
            <a:chOff x="0" y="0"/>
            <a:chExt cx="21762720" cy="128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762720" cy="1365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Përfundime dhe Punë e Ardhshme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057400"/>
            <a:ext cx="7955280" cy="548640"/>
            <a:chOff x="0" y="0"/>
            <a:chExt cx="106070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607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Përmbledhje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51560" y="2741295"/>
            <a:ext cx="777240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E8EEF7"/>
                </a:solidFill>
                <a:latin typeface="Calibri (MS)"/>
                <a:ea typeface="Calibri (MS)"/>
                <a:cs typeface="Calibri (MS)"/>
                <a:sym typeface="Calibri (MS)"/>
              </a:rPr>
              <a:t>Procesor Single-Cycle RISC-V plotësisht funksional, ndërtuar nga zeroja</a:t>
            </a:r>
          </a:p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E8EEF7"/>
                </a:solidFill>
                <a:latin typeface="Calibri (MS)"/>
                <a:ea typeface="Calibri (MS)"/>
                <a:cs typeface="Calibri (MS)"/>
                <a:sym typeface="Calibri (MS)"/>
              </a:rPr>
              <a:t>Validim zyrtar përmes CoreMark — provë e korrektësisë arkitekturore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95460" y="2057400"/>
            <a:ext cx="7955280" cy="548640"/>
            <a:chOff x="0" y="0"/>
            <a:chExt cx="1060704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607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CADC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Punë e Ardhshme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486900" y="2741295"/>
            <a:ext cx="7772400" cy="242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E8EEF7"/>
                </a:solidFill>
                <a:latin typeface="Calibri (MS)"/>
                <a:ea typeface="Calibri (MS)"/>
                <a:cs typeface="Calibri (MS)"/>
                <a:sym typeface="Calibri (MS)"/>
              </a:rPr>
              <a:t>Arkitekturë Multi-Cycle ose Pipeline 5-fazor</a:t>
            </a:r>
          </a:p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E8EEF7"/>
                </a:solidFill>
                <a:latin typeface="Calibri (MS)"/>
                <a:ea typeface="Calibri (MS)"/>
                <a:cs typeface="Calibri (MS)"/>
                <a:sym typeface="Calibri (MS)"/>
              </a:rPr>
              <a:t>Memorie kesh L1 (Instruksione/Të dhëna)</a:t>
            </a:r>
          </a:p>
          <a:p>
            <a:pPr algn="l" marL="393621" indent="-196810" lvl="1">
              <a:lnSpc>
                <a:spcPts val="2610"/>
              </a:lnSpc>
              <a:buFont typeface="Arial"/>
              <a:buChar char="•"/>
            </a:pPr>
            <a:r>
              <a:rPr lang="en-US" sz="2175">
                <a:solidFill>
                  <a:srgbClr val="E8EEF7"/>
                </a:solidFill>
                <a:latin typeface="Calibri (MS)"/>
                <a:ea typeface="Calibri (MS)"/>
                <a:cs typeface="Calibri (MS)"/>
                <a:sym typeface="Calibri (MS)"/>
              </a:rPr>
              <a:t>Branch Prediction për degëzime të kushtëzuara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7269480"/>
            <a:ext cx="18283428" cy="822960"/>
            <a:chOff x="0" y="0"/>
            <a:chExt cx="24377904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1097280"/>
            </a:xfrm>
            <a:custGeom>
              <a:avLst/>
              <a:gdLst/>
              <a:ahLst/>
              <a:cxnLst/>
              <a:rect r="r" b="b" t="t" l="l"/>
              <a:pathLst>
                <a:path h="10972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892" r="0" b="-38289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4377904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Faleminderit për vëmendjen!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8161020"/>
            <a:ext cx="18283428" cy="548640"/>
            <a:chOff x="0" y="0"/>
            <a:chExt cx="24377904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731520"/>
            </a:xfrm>
            <a:custGeom>
              <a:avLst/>
              <a:gdLst/>
              <a:ahLst/>
              <a:cxnLst/>
              <a:rect r="r" b="b" t="t" l="l"/>
              <a:pathLst>
                <a:path h="73152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338" r="0" b="-59933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4377904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i="true">
                  <a:solidFill>
                    <a:srgbClr val="9FB8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Pyetje?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0" y="9669780"/>
            <a:ext cx="1371600" cy="411480"/>
            <a:chOff x="0" y="0"/>
            <a:chExt cx="1828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828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/ 15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DAHOJ0Bnl_g</dc:identifier>
  <dcterms:modified xsi:type="dcterms:W3CDTF">2011-08-01T06:04:30Z</dcterms:modified>
  <cp:revision>1</cp:revision>
  <dc:title>Prezantimi_Diplome_RISCV.pptx</dc:title>
</cp:coreProperties>
</file>